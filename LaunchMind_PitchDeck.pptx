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1.png"/><Relationship Id="rId3" Type="http://schemas.openxmlformats.org/officeDocument/2006/relationships/image" Target="../media/image-5-1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103120"/>
            <a:ext cx="5943600" cy="5943600"/>
          </a:xfrm>
          <a:prstGeom prst="ellipse">
            <a:avLst/>
          </a:prstGeom>
          <a:solidFill>
            <a:srgbClr val="4F5BD5">
              <a:alpha val="1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206240"/>
            <a:ext cx="4572000" cy="4572000"/>
          </a:xfrm>
          <a:prstGeom prst="ellipse">
            <a:avLst/>
          </a:prstGeom>
          <a:solidFill>
            <a:srgbClr val="FF8A3D">
              <a:alpha val="1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548640" y="640080"/>
            <a:ext cx="6949440" cy="384048"/>
          </a:xfrm>
          <a:prstGeom prst="roundRect">
            <a:avLst>
              <a:gd name="adj" fmla="val 50000"/>
            </a:avLst>
          </a:prstGeom>
          <a:solidFill>
            <a:srgbClr val="24295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640080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INNOVAHACK CHAPTER 1  ·  GENERATIVE AI / STARTUP INNOVATION TRACK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30352" y="19659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LaunchMind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566928" y="3246120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Curing the builder’s blindspot. Validate before you build.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566928" y="3794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Startup Validation &amp; Interactive VC Pitch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6053328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7D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Swaraj Kumar Behera &amp; Prajakta Kuila  ·  Team Dynamic Duo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0" y="6053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7D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swaraj3092/LaunchMind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Startup Graveyard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blind, one assumption at a time.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2084832"/>
            <a:ext cx="512064" cy="512064"/>
          </a:xfrm>
          <a:prstGeom prst="ellipse">
            <a:avLst/>
          </a:prstGeom>
          <a:solidFill>
            <a:srgbClr val="474E78"/>
          </a:solidFill>
          <a:ln/>
        </p:spPr>
      </p:sp>
      <p:pic>
        <p:nvPicPr>
          <p:cNvPr id="7" name="Image 0" descr="assets/icons/comment-do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4143" y="2207727"/>
            <a:ext cx="266273" cy="26627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08760" y="2066544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Echo Chambers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670048"/>
            <a:ext cx="477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Founders validate ideas with supportive friends instead of market realities.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6278728" y="182880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71336" y="2084832"/>
            <a:ext cx="512064" cy="512064"/>
          </a:xfrm>
          <a:prstGeom prst="ellipse">
            <a:avLst/>
          </a:prstGeom>
          <a:solidFill>
            <a:srgbClr val="474E78"/>
          </a:solidFill>
          <a:ln/>
        </p:spPr>
      </p:sp>
      <p:pic>
        <p:nvPicPr>
          <p:cNvPr id="12" name="Image 1" descr="assets/icons/bo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4231" y="2207727"/>
            <a:ext cx="266273" cy="266273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38848" y="2066544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Optimization</a:t>
            </a:r>
            <a:endParaRPr lang="en-US" sz="1550" dirty="0"/>
          </a:p>
        </p:txBody>
      </p:sp>
      <p:sp>
        <p:nvSpPr>
          <p:cNvPr id="14" name="Text 10"/>
          <p:cNvSpPr/>
          <p:nvPr/>
        </p:nvSpPr>
        <p:spPr>
          <a:xfrm>
            <a:off x="6571336" y="2670048"/>
            <a:ext cx="477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Jumping straight into code before validating real customer pain points.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388620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41248" y="4142232"/>
            <a:ext cx="512064" cy="512064"/>
          </a:xfrm>
          <a:prstGeom prst="ellipse">
            <a:avLst/>
          </a:prstGeom>
          <a:solidFill>
            <a:srgbClr val="474E78"/>
          </a:solidFill>
          <a:ln/>
        </p:spPr>
      </p:sp>
      <p:pic>
        <p:nvPicPr>
          <p:cNvPr id="17" name="Image 2" descr="assets/icons/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143" y="4265127"/>
            <a:ext cx="266273" cy="266273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08760" y="4123944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Consultancy Barrier</a:t>
            </a:r>
            <a:endParaRPr lang="en-US" sz="1550" dirty="0"/>
          </a:p>
        </p:txBody>
      </p:sp>
      <p:sp>
        <p:nvSpPr>
          <p:cNvPr id="19" name="Text 14"/>
          <p:cNvSpPr/>
          <p:nvPr/>
        </p:nvSpPr>
        <p:spPr>
          <a:xfrm>
            <a:off x="841248" y="4727448"/>
            <a:ext cx="477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startup advice and VC feedback stay expensive and out of reach.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278728" y="3886200"/>
            <a:ext cx="5364328" cy="1783080"/>
          </a:xfrm>
          <a:prstGeom prst="roundRect">
            <a:avLst>
              <a:gd name="adj" fmla="val 5128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71336" y="4142232"/>
            <a:ext cx="512064" cy="512064"/>
          </a:xfrm>
          <a:prstGeom prst="ellipse">
            <a:avLst/>
          </a:prstGeom>
          <a:solidFill>
            <a:srgbClr val="474E78"/>
          </a:solidFill>
          <a:ln/>
        </p:spPr>
      </p:sp>
      <p:pic>
        <p:nvPicPr>
          <p:cNvPr id="22" name="Image 3" descr="assets/icons/hourglass-hal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4231" y="4265127"/>
            <a:ext cx="266273" cy="266273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38848" y="4123944"/>
            <a:ext cx="4084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Loss</a:t>
            </a:r>
            <a:endParaRPr lang="en-US" sz="1550" dirty="0"/>
          </a:p>
        </p:txBody>
      </p:sp>
      <p:sp>
        <p:nvSpPr>
          <p:cNvPr id="24" name="Text 18"/>
          <p:cNvSpPr/>
          <p:nvPr/>
        </p:nvSpPr>
        <p:spPr>
          <a:xfrm>
            <a:off x="6571336" y="4727448"/>
            <a:ext cx="4779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dollars and millions of builder-hours wasted every year.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548640" y="580644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1B1F3B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13232" y="5879592"/>
            <a:ext cx="420624" cy="420624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27" name="Image 4" descr="assets/icons/chart-l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8388" y="5984748"/>
            <a:ext cx="210312" cy="210312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325880" y="5806440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35%</a:t>
            </a:r>
            <a:endParaRPr lang="en-US" sz="2200" dirty="0"/>
          </a:p>
        </p:txBody>
      </p:sp>
      <p:sp>
        <p:nvSpPr>
          <p:cNvPr id="29" name="Text 22"/>
          <p:cNvSpPr/>
          <p:nvPr/>
        </p:nvSpPr>
        <p:spPr>
          <a:xfrm>
            <a:off x="2057400" y="5806440"/>
            <a:ext cx="9357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startups fail because of ‘No Market Need’ — the #1 cause of failure, per CB Insights.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 Co-Founder &amp; Silicon Valley VC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on. Never a yes-man.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94415" cy="1024128"/>
          </a:xfrm>
          <a:prstGeom prst="roundRect">
            <a:avLst>
              <a:gd name="adj" fmla="val 8929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2075688"/>
            <a:ext cx="621792" cy="621792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7" name="Image 0" descr="assets/icons/question-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470" y="2224918"/>
            <a:ext cx="323332" cy="3233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00200" y="200253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Interrogation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00200" y="238658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personalized 5-question engine that grills your core assumptions.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548640" y="3063240"/>
            <a:ext cx="11094415" cy="1024128"/>
          </a:xfrm>
          <a:prstGeom prst="roundRect">
            <a:avLst>
              <a:gd name="adj" fmla="val 8929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77240" y="3264408"/>
            <a:ext cx="621792" cy="621792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12" name="Image 1" descr="assets/icons/glob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6470" y="3413638"/>
            <a:ext cx="323332" cy="3233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00200" y="319125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Web Intel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1600200" y="357530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search scraping surfaces active, live competitors.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548640" y="4251960"/>
            <a:ext cx="11094415" cy="1024128"/>
          </a:xfrm>
          <a:prstGeom prst="roundRect">
            <a:avLst>
              <a:gd name="adj" fmla="val 8929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453128"/>
            <a:ext cx="621792" cy="621792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17" name="Image 2" descr="assets/icons/bullsey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470" y="4602358"/>
            <a:ext cx="323332" cy="32333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00200" y="437997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 Kill-Check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600200" y="476402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Surfaces the top 3 unvalidated risks that could kill the startup.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548640" y="5440680"/>
            <a:ext cx="11094415" cy="1024128"/>
          </a:xfrm>
          <a:prstGeom prst="roundRect">
            <a:avLst>
              <a:gd name="adj" fmla="val 8929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77240" y="5641848"/>
            <a:ext cx="621792" cy="621792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22" name="Image 3" descr="assets/icons/rou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470" y="5791078"/>
            <a:ext cx="323332" cy="3233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600200" y="5568696"/>
            <a:ext cx="9784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Roadmap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1600200" y="5952744"/>
            <a:ext cx="9784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structured 30/60/90-day plan with an actionable Day-1 checklist.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8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4-Step Validation Funnel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935442" y="2766060"/>
            <a:ext cx="8320811" cy="0"/>
          </a:xfrm>
          <a:prstGeom prst="line">
            <a:avLst/>
          </a:prstGeom>
          <a:noFill/>
          <a:ln w="25400">
            <a:solidFill>
              <a:srgbClr val="D7DA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501102" y="2331720"/>
            <a:ext cx="868680" cy="868680"/>
          </a:xfrm>
          <a:prstGeom prst="ellipse">
            <a:avLst/>
          </a:prstGeom>
          <a:solidFill>
            <a:srgbClr val="4F5BD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pic>
        <p:nvPicPr>
          <p:cNvPr id="6" name="Image 0" descr="assets/icons/lightbul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959" y="2557577"/>
            <a:ext cx="416966" cy="41696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77174" y="2240280"/>
            <a:ext cx="384048" cy="38404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07717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685800" y="342900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Idea Input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77240" y="3858768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your vision in one simple sentence.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274706" y="2331720"/>
            <a:ext cx="868680" cy="868680"/>
          </a:xfrm>
          <a:prstGeom prst="ellipse">
            <a:avLst/>
          </a:prstGeom>
          <a:solidFill>
            <a:srgbClr val="4F5BD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pic>
        <p:nvPicPr>
          <p:cNvPr id="12" name="Image 1" descr="assets/icons/rob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563" y="2557577"/>
            <a:ext cx="416966" cy="416966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850778" y="2240280"/>
            <a:ext cx="384048" cy="38404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85077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459404" y="342900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Interrogation</a:t>
            </a:r>
            <a:endParaRPr lang="en-US" sz="1550" dirty="0"/>
          </a:p>
        </p:txBody>
      </p:sp>
      <p:sp>
        <p:nvSpPr>
          <p:cNvPr id="16" name="Text 12"/>
          <p:cNvSpPr/>
          <p:nvPr/>
        </p:nvSpPr>
        <p:spPr>
          <a:xfrm>
            <a:off x="3550844" y="3858768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 targeted questions — Normal or Roast Mode.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7048310" y="2331720"/>
            <a:ext cx="868680" cy="868680"/>
          </a:xfrm>
          <a:prstGeom prst="ellipse">
            <a:avLst/>
          </a:prstGeom>
          <a:solidFill>
            <a:srgbClr val="4F5BD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pic>
        <p:nvPicPr>
          <p:cNvPr id="18" name="Image 2" descr="assets/icons/clipboard-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166" y="2557577"/>
            <a:ext cx="416966" cy="416966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7624382" y="2240280"/>
            <a:ext cx="384048" cy="38404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762438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6233008" y="342900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Synthesis</a:t>
            </a:r>
            <a:endParaRPr lang="en-US" sz="1550" dirty="0"/>
          </a:p>
        </p:txBody>
      </p:sp>
      <p:sp>
        <p:nvSpPr>
          <p:cNvPr id="22" name="Text 17"/>
          <p:cNvSpPr/>
          <p:nvPr/>
        </p:nvSpPr>
        <p:spPr>
          <a:xfrm>
            <a:off x="6324448" y="3858768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builds your roadmap, competitor list, and market size.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9821913" y="2331720"/>
            <a:ext cx="868680" cy="868680"/>
          </a:xfrm>
          <a:prstGeom prst="ellipse">
            <a:avLst/>
          </a:prstGeom>
          <a:solidFill>
            <a:srgbClr val="4F5BD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pic>
        <p:nvPicPr>
          <p:cNvPr id="24" name="Image 3" descr="assets/icons/microphone-al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7770" y="2557577"/>
            <a:ext cx="416966" cy="416966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10397985" y="2240280"/>
            <a:ext cx="384048" cy="384048"/>
          </a:xfrm>
          <a:prstGeom prst="ellipse">
            <a:avLst/>
          </a:prstGeom>
          <a:solidFill>
            <a:srgbClr val="FF8A3D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10397985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9006611" y="3429000"/>
            <a:ext cx="24992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VC Pitch</a:t>
            </a:r>
            <a:endParaRPr lang="en-US" sz="1550" dirty="0"/>
          </a:p>
        </p:txBody>
      </p:sp>
      <p:sp>
        <p:nvSpPr>
          <p:cNvPr id="28" name="Text 22"/>
          <p:cNvSpPr/>
          <p:nvPr/>
        </p:nvSpPr>
        <p:spPr>
          <a:xfrm>
            <a:off x="9098051" y="3858768"/>
            <a:ext cx="23164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Defend your idea and earn a Venture Readiness Score.</a:t>
            </a:r>
            <a:endParaRPr lang="en-US" sz="1200" dirty="0"/>
          </a:p>
        </p:txBody>
      </p:sp>
      <p:sp>
        <p:nvSpPr>
          <p:cNvPr id="29" name="Text 23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8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VC PITCH ROOM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Grilled by Simulated Partners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score tracking across three AI personas.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14172E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934413" y="2221992"/>
            <a:ext cx="713232" cy="713232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7" name="Image 0" descr="assets/icons/user-ti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5589" y="2393168"/>
            <a:ext cx="370881" cy="37088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063240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Marcus Vance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3410712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F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Skeptic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53458" y="196596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14172E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5739232" y="2221992"/>
            <a:ext cx="713232" cy="713232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12" name="Image 1" descr="assets/icons/user-ti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0407" y="2393168"/>
            <a:ext cx="370881" cy="37088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490618" y="3063240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Elena Rostova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4490618" y="3410712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F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Growth Investor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58277" y="1965960"/>
            <a:ext cx="3484778" cy="1965960"/>
          </a:xfrm>
          <a:prstGeom prst="roundRect">
            <a:avLst>
              <a:gd name="adj" fmla="val 5581"/>
            </a:avLst>
          </a:prstGeom>
          <a:solidFill>
            <a:srgbClr val="14172E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544050" y="2221992"/>
            <a:ext cx="713232" cy="713232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17" name="Image 2" descr="assets/icons/user-ti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5226" y="2393168"/>
            <a:ext cx="370881" cy="37088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295437" y="3063240"/>
            <a:ext cx="32104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Aris Thorne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8295437" y="3410712"/>
            <a:ext cx="32104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9FA8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Deep-Tech VC</a:t>
            </a:r>
            <a:endParaRPr lang="en-US" sz="1250" dirty="0"/>
          </a:p>
        </p:txBody>
      </p:sp>
      <p:sp>
        <p:nvSpPr>
          <p:cNvPr id="20" name="Shape 15"/>
          <p:cNvSpPr/>
          <p:nvPr/>
        </p:nvSpPr>
        <p:spPr>
          <a:xfrm>
            <a:off x="548640" y="4343400"/>
            <a:ext cx="512064" cy="512064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21" name="Image 3" descr="assets/icons/chart-li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466295"/>
            <a:ext cx="266273" cy="266273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207008" y="4315968"/>
            <a:ext cx="470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Scoring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207008" y="4645152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+10 for a strong answer, -5 for a red flag — updated live.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6278728" y="4343400"/>
            <a:ext cx="512064" cy="512064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25" name="Image 4" descr="assets/icons/searc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623" y="4466295"/>
            <a:ext cx="266273" cy="266273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6937096" y="4315968"/>
            <a:ext cx="470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Due Diligence</a:t>
            </a:r>
            <a:endParaRPr lang="en-US" sz="1450" dirty="0"/>
          </a:p>
        </p:txBody>
      </p:sp>
      <p:sp>
        <p:nvSpPr>
          <p:cNvPr id="27" name="Text 20"/>
          <p:cNvSpPr/>
          <p:nvPr/>
        </p:nvSpPr>
        <p:spPr>
          <a:xfrm>
            <a:off x="6937096" y="4645152"/>
            <a:ext cx="470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rounds of sharp, semantic follow-ups on every pitch.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54864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i="1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in a blunt partner verdict — Invest, or Pass.</a:t>
            </a:r>
            <a:endParaRPr lang="en-US" sz="1500" dirty="0"/>
          </a:p>
        </p:txBody>
      </p:sp>
      <p:sp>
        <p:nvSpPr>
          <p:cNvPr id="29" name="Text 22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8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TRACTION &amp; ROADMAP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Execution Plan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04825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2FAE60"/>
          </a:solidFill>
          <a:ln/>
        </p:spPr>
      </p:sp>
      <p:sp>
        <p:nvSpPr>
          <p:cNvPr id="6" name="Text 4"/>
          <p:cNvSpPr/>
          <p:nvPr/>
        </p:nvSpPr>
        <p:spPr>
          <a:xfrm>
            <a:off x="804672" y="2048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314090" y="2002536"/>
            <a:ext cx="384048" cy="384048"/>
          </a:xfrm>
          <a:prstGeom prst="ellipse">
            <a:avLst/>
          </a:prstGeom>
          <a:solidFill>
            <a:srgbClr val="2FAE60"/>
          </a:solidFill>
          <a:ln/>
        </p:spPr>
      </p:sp>
      <p:pic>
        <p:nvPicPr>
          <p:cNvPr id="8" name="Image 0" descr="assets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10102" y="2098548"/>
            <a:ext cx="192024" cy="192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2514600"/>
            <a:ext cx="30031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Now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04672" y="2907792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validation engine and VC Pitch Room MVP shipped.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338218" y="182880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4250" y="204825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FF8A3D"/>
          </a:solidFill>
          <a:ln/>
        </p:spPr>
      </p:sp>
      <p:sp>
        <p:nvSpPr>
          <p:cNvPr id="13" name="Text 10"/>
          <p:cNvSpPr/>
          <p:nvPr/>
        </p:nvSpPr>
        <p:spPr>
          <a:xfrm>
            <a:off x="4594250" y="2048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7103669" y="2002536"/>
            <a:ext cx="384048" cy="38404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15" name="Image 1" descr="assets/icons/task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681" y="2098548"/>
            <a:ext cx="192024" cy="19202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594250" y="2514600"/>
            <a:ext cx="30031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Q3</a:t>
            </a:r>
            <a:endParaRPr lang="en-US" sz="1550" dirty="0"/>
          </a:p>
        </p:txBody>
      </p:sp>
      <p:sp>
        <p:nvSpPr>
          <p:cNvPr id="17" name="Text 13"/>
          <p:cNvSpPr/>
          <p:nvPr/>
        </p:nvSpPr>
        <p:spPr>
          <a:xfrm>
            <a:off x="4594250" y="2907792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auth, project dashboards, and progress tracking.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127797" y="1828800"/>
            <a:ext cx="3515258" cy="1874520"/>
          </a:xfrm>
          <a:prstGeom prst="roundRect">
            <a:avLst>
              <a:gd name="adj" fmla="val 5854"/>
            </a:avLst>
          </a:prstGeom>
          <a:solidFill>
            <a:srgbClr val="F3F4FD"/>
          </a:solidFill>
          <a:ln/>
          <a:effectLst>
            <a:outerShdw sx="100000" sy="100000" kx="0" ky="0" algn="bl" rotWithShape="0" blurRad="101600" dist="38100" dir="5400000">
              <a:srgbClr val="0B0D22">
                <a:alpha val="16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83829" y="2048256"/>
            <a:ext cx="1463040" cy="292608"/>
          </a:xfrm>
          <a:prstGeom prst="roundRect">
            <a:avLst>
              <a:gd name="adj" fmla="val 50000"/>
            </a:avLst>
          </a:prstGeom>
          <a:solidFill>
            <a:srgbClr val="5B6289"/>
          </a:solidFill>
          <a:ln/>
        </p:spPr>
      </p:sp>
      <p:sp>
        <p:nvSpPr>
          <p:cNvPr id="20" name="Text 16"/>
          <p:cNvSpPr/>
          <p:nvPr/>
        </p:nvSpPr>
        <p:spPr>
          <a:xfrm>
            <a:off x="8383829" y="204825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10893247" y="2002536"/>
            <a:ext cx="384048" cy="384048"/>
          </a:xfrm>
          <a:prstGeom prst="ellipse">
            <a:avLst/>
          </a:prstGeom>
          <a:solidFill>
            <a:srgbClr val="5B6289"/>
          </a:solidFill>
          <a:ln/>
        </p:spPr>
      </p:sp>
      <p:pic>
        <p:nvPicPr>
          <p:cNvPr id="22" name="Image 2" descr="assets/icons/rock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9259" y="2098548"/>
            <a:ext cx="192024" cy="192024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8383829" y="2514600"/>
            <a:ext cx="300319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Q4</a:t>
            </a:r>
            <a:endParaRPr lang="en-US" sz="1550" dirty="0"/>
          </a:p>
        </p:txBody>
      </p:sp>
      <p:sp>
        <p:nvSpPr>
          <p:cNvPr id="24" name="Text 19"/>
          <p:cNvSpPr/>
          <p:nvPr/>
        </p:nvSpPr>
        <p:spPr>
          <a:xfrm>
            <a:off x="8383829" y="2907792"/>
            <a:ext cx="300319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1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Voice-to-voice pitching and vector-based YC benchmarking.</a:t>
            </a:r>
            <a:endParaRPr lang="en-US" sz="1200" dirty="0"/>
          </a:p>
        </p:txBody>
      </p:sp>
      <p:sp>
        <p:nvSpPr>
          <p:cNvPr id="25" name="Text 20"/>
          <p:cNvSpPr/>
          <p:nvPr/>
        </p:nvSpPr>
        <p:spPr>
          <a:xfrm>
            <a:off x="54864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50" kern="0" dirty="0">
                <a:solidFill>
                  <a:srgbClr val="4F5B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GO-TO-MARKET</a:t>
            </a:r>
            <a:endParaRPr lang="en-US" sz="1150" dirty="0"/>
          </a:p>
        </p:txBody>
      </p:sp>
      <p:sp>
        <p:nvSpPr>
          <p:cNvPr id="26" name="Shape 21"/>
          <p:cNvSpPr/>
          <p:nvPr/>
        </p:nvSpPr>
        <p:spPr>
          <a:xfrm>
            <a:off x="548640" y="4343400"/>
            <a:ext cx="2602154" cy="777240"/>
          </a:xfrm>
          <a:prstGeom prst="roundRect">
            <a:avLst>
              <a:gd name="adj" fmla="val 11765"/>
            </a:avLst>
          </a:prstGeom>
          <a:solidFill>
            <a:srgbClr val="1B1F3B"/>
          </a:solidFill>
          <a:ln/>
        </p:spPr>
      </p:sp>
      <p:sp>
        <p:nvSpPr>
          <p:cNvPr id="27" name="Shape 22"/>
          <p:cNvSpPr/>
          <p:nvPr/>
        </p:nvSpPr>
        <p:spPr>
          <a:xfrm>
            <a:off x="694944" y="4539996"/>
            <a:ext cx="384048" cy="38404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28" name="Image 3" descr="assets/icons/troph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0956" y="4636008"/>
            <a:ext cx="192024" cy="192024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170432" y="4343400"/>
            <a:ext cx="18523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Partnerships</a:t>
            </a:r>
            <a:endParaRPr lang="en-US" sz="1100" dirty="0"/>
          </a:p>
        </p:txBody>
      </p:sp>
      <p:sp>
        <p:nvSpPr>
          <p:cNvPr id="30" name="Shape 24"/>
          <p:cNvSpPr/>
          <p:nvPr/>
        </p:nvSpPr>
        <p:spPr>
          <a:xfrm>
            <a:off x="3379394" y="4343400"/>
            <a:ext cx="2602154" cy="777240"/>
          </a:xfrm>
          <a:prstGeom prst="roundRect">
            <a:avLst>
              <a:gd name="adj" fmla="val 11765"/>
            </a:avLst>
          </a:prstGeom>
          <a:solidFill>
            <a:srgbClr val="1B1F3B"/>
          </a:solidFill>
          <a:ln/>
        </p:spPr>
      </p:sp>
      <p:sp>
        <p:nvSpPr>
          <p:cNvPr id="31" name="Shape 25"/>
          <p:cNvSpPr/>
          <p:nvPr/>
        </p:nvSpPr>
        <p:spPr>
          <a:xfrm>
            <a:off x="3525698" y="4539996"/>
            <a:ext cx="384048" cy="38404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32" name="Image 4" descr="assets/icons/githu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1710" y="4636008"/>
            <a:ext cx="192024" cy="192024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4001186" y="4343400"/>
            <a:ext cx="18523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6210148" y="4343400"/>
            <a:ext cx="2602154" cy="777240"/>
          </a:xfrm>
          <a:prstGeom prst="roundRect">
            <a:avLst>
              <a:gd name="adj" fmla="val 11765"/>
            </a:avLst>
          </a:prstGeom>
          <a:solidFill>
            <a:srgbClr val="1B1F3B"/>
          </a:solidFill>
          <a:ln/>
        </p:spPr>
      </p:sp>
      <p:sp>
        <p:nvSpPr>
          <p:cNvPr id="35" name="Shape 28"/>
          <p:cNvSpPr/>
          <p:nvPr/>
        </p:nvSpPr>
        <p:spPr>
          <a:xfrm>
            <a:off x="6356452" y="4539996"/>
            <a:ext cx="384048" cy="38404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36" name="Image 5" descr="assets/icons/bullhorn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52464" y="4636008"/>
            <a:ext cx="192024" cy="192024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831940" y="4343400"/>
            <a:ext cx="18523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 Public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040901" y="4343400"/>
            <a:ext cx="2602154" cy="777240"/>
          </a:xfrm>
          <a:prstGeom prst="roundRect">
            <a:avLst>
              <a:gd name="adj" fmla="val 11765"/>
            </a:avLst>
          </a:prstGeom>
          <a:solidFill>
            <a:srgbClr val="1B1F3B"/>
          </a:solidFill>
          <a:ln/>
        </p:spPr>
      </p:sp>
      <p:sp>
        <p:nvSpPr>
          <p:cNvPr id="39" name="Shape 31"/>
          <p:cNvSpPr/>
          <p:nvPr/>
        </p:nvSpPr>
        <p:spPr>
          <a:xfrm>
            <a:off x="9187205" y="4539996"/>
            <a:ext cx="384048" cy="38404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40" name="Image 6" descr="assets/icons/handshak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83217" y="4636008"/>
            <a:ext cx="192024" cy="192024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9662693" y="4343400"/>
            <a:ext cx="185234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 Hub Onboarding</a:t>
            </a:r>
            <a:endParaRPr lang="en-US" sz="1100" dirty="0"/>
          </a:p>
        </p:txBody>
      </p:sp>
      <p:sp>
        <p:nvSpPr>
          <p:cNvPr id="42" name="Text 33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7AC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8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7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 become the global standard for pre-seed project validation.”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974037" y="2926080"/>
            <a:ext cx="603504" cy="603504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5" name="Image 0" descr="assets/icons/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18878" y="3070921"/>
            <a:ext cx="313822" cy="31382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03320"/>
            <a:ext cx="345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4096512"/>
            <a:ext cx="317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and open-source on GitHub today.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794096" y="2926080"/>
            <a:ext cx="603504" cy="603504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9" name="Image 1" descr="assets/icons/handsha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37" y="3070921"/>
            <a:ext cx="313822" cy="31382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68698" y="3703320"/>
            <a:ext cx="345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Incubator Partnerships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4505858" y="4096512"/>
            <a:ext cx="317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Licensing to university networks, venture studios, and incubators.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9614154" y="2926080"/>
            <a:ext cx="603504" cy="603504"/>
          </a:xfrm>
          <a:prstGeom prst="ellipse">
            <a:avLst/>
          </a:prstGeom>
          <a:solidFill>
            <a:srgbClr val="4F5BD5"/>
          </a:solidFill>
          <a:ln/>
        </p:spPr>
      </p:sp>
      <p:pic>
        <p:nvPicPr>
          <p:cNvPr id="13" name="Image 2" descr="assets/icons/troph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58995" y="3070921"/>
            <a:ext cx="313822" cy="31382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88757" y="3703320"/>
            <a:ext cx="345429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Hackathon Integrations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8325917" y="4096512"/>
            <a:ext cx="31799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official pre-validation tool for hackathons everywhere.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548640" y="5623560"/>
            <a:ext cx="11094415" cy="594360"/>
          </a:xfrm>
          <a:prstGeom prst="roundRect">
            <a:avLst>
              <a:gd name="adj" fmla="val 15385"/>
            </a:avLst>
          </a:prstGeom>
          <a:solidFill>
            <a:srgbClr val="1D2148"/>
          </a:solidFill>
          <a:ln/>
        </p:spPr>
      </p:sp>
      <p:sp>
        <p:nvSpPr>
          <p:cNvPr id="17" name="Shape 12"/>
          <p:cNvSpPr/>
          <p:nvPr/>
        </p:nvSpPr>
        <p:spPr>
          <a:xfrm>
            <a:off x="694944" y="5705856"/>
            <a:ext cx="429768" cy="429768"/>
          </a:xfrm>
          <a:prstGeom prst="ellipse">
            <a:avLst/>
          </a:prstGeom>
          <a:solidFill>
            <a:srgbClr val="FF8A3D"/>
          </a:solidFill>
          <a:ln/>
        </p:spPr>
      </p:sp>
      <p:pic>
        <p:nvPicPr>
          <p:cNvPr id="18" name="Image 3" descr="assets/icons/seedli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386" y="5813298"/>
            <a:ext cx="214884" cy="21488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25880" y="5623560"/>
            <a:ext cx="100885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D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Scalable SaaS: Freemium (free) → Pro ($19/mo) → Enterprise (custom) — plus API licensing.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0972800" y="647395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74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8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7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31520"/>
            <a:ext cx="10881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Dynamic Duo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Curing the builder’s blindspot.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318608" cy="2331720"/>
          </a:xfrm>
          <a:prstGeom prst="roundRect">
            <a:avLst>
              <a:gd name="adj" fmla="val 4706"/>
            </a:avLst>
          </a:prstGeom>
          <a:solidFill>
            <a:srgbClr val="1D214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27884" y="2395728"/>
            <a:ext cx="960120" cy="960120"/>
          </a:xfrm>
          <a:prstGeom prst="ellipse">
            <a:avLst/>
          </a:prstGeom>
          <a:solidFill>
            <a:srgbClr val="4F5BD5"/>
          </a:solidFill>
          <a:ln/>
        </p:spPr>
      </p:sp>
      <p:sp>
        <p:nvSpPr>
          <p:cNvPr id="7" name="Text 5"/>
          <p:cNvSpPr/>
          <p:nvPr/>
        </p:nvSpPr>
        <p:spPr>
          <a:xfrm>
            <a:off x="2727884" y="239572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SB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Swaraj Kumar Behera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22960" y="38587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Fullstack Developer &amp; AI Integration Specialist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24448" y="2103120"/>
            <a:ext cx="5318608" cy="2331720"/>
          </a:xfrm>
          <a:prstGeom prst="roundRect">
            <a:avLst>
              <a:gd name="adj" fmla="val 4706"/>
            </a:avLst>
          </a:prstGeom>
          <a:solidFill>
            <a:srgbClr val="1D2148"/>
          </a:solidFill>
          <a:ln/>
          <a:effectLst>
            <a:outerShdw sx="100000" sy="100000" kx="0" ky="0" algn="bl" rotWithShape="0" blurRad="127000" dist="50800" dir="5400000">
              <a:srgbClr val="000000">
                <a:alpha val="3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503691" y="2395728"/>
            <a:ext cx="960120" cy="960120"/>
          </a:xfrm>
          <a:prstGeom prst="ellipse">
            <a:avLst/>
          </a:prstGeom>
          <a:solidFill>
            <a:srgbClr val="FF8A3D"/>
          </a:solidFill>
          <a:ln/>
        </p:spPr>
      </p:sp>
      <p:sp>
        <p:nvSpPr>
          <p:cNvPr id="12" name="Text 10"/>
          <p:cNvSpPr/>
          <p:nvPr/>
        </p:nvSpPr>
        <p:spPr>
          <a:xfrm>
            <a:off x="8503691" y="2395728"/>
            <a:ext cx="96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6507328" y="3474720"/>
            <a:ext cx="495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Prajakta Kuila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598768" y="3858768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AAB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Engineer &amp; Lead UI/UX Designer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4709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FF8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goal: making startup validation accessible, fast, and objective.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C7CC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github.com/swaraj3092/LaunchMind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2026-07-25T20:55:34Z</dcterms:created>
  <dcterms:modified xsi:type="dcterms:W3CDTF">2026-07-25T20:55:34Z</dcterms:modified>
</cp:coreProperties>
</file>